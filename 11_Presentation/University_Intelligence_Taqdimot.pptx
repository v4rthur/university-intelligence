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111111"/>
              </a:solidFill>
            </c:spPr>
          </c:dPt>
          <c:dPt>
            <c:idx val="1"/>
            <c:spPr>
              <a:solidFill>
                <a:srgbClr val="111111"/>
              </a:solidFill>
            </c:spPr>
          </c:dPt>
          <c:dPt>
            <c:idx val="2"/>
            <c:spPr>
              <a:solidFill>
                <a:srgbClr val="111111"/>
              </a:solidFill>
            </c:spPr>
          </c:dPt>
          <c:dPt>
            <c:idx val="3"/>
            <c:spPr>
              <a:solidFill>
                <a:srgbClr val="111111"/>
              </a:solidFill>
            </c:spPr>
          </c:dPt>
          <c:dPt>
            <c:idx val="4"/>
            <c:spPr>
              <a:solidFill>
                <a:srgbClr val="111111"/>
              </a:solidFill>
            </c:spPr>
          </c:dPt>
          <c:dPt>
            <c:idx val="5"/>
            <c:spPr>
              <a:solidFill>
                <a:srgbClr val="D52B1E"/>
              </a:solidFill>
            </c:spPr>
          </c:dPt>
          <c:cat>
            <c:strRef>
              <c:f>Sheet1!$A$2:$A$7</c:f>
              <c:strCache>
                <c:ptCount val="6"/>
                <c:pt idx="0">
                  <c:v>Muhandislik</c:v>
                </c:pt>
                <c:pt idx="1">
                  <c:v>Axborot texnologiyalari</c:v>
                </c:pt>
                <c:pt idx="2">
                  <c:v>Huquq</c:v>
                </c:pt>
                <c:pt idx="3">
                  <c:v>Biznes va menejment</c:v>
                </c:pt>
                <c:pt idx="4">
                  <c:v>Filologiya va tillar</c:v>
                </c:pt>
                <c:pt idx="5">
                  <c:v>Iqtisodiyot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3.96</c:v>
                </c:pt>
                <c:pt idx="1">
                  <c:v>3.95</c:v>
                </c:pt>
                <c:pt idx="2">
                  <c:v>3.92</c:v>
                </c:pt>
                <c:pt idx="3">
                  <c:v>3.9</c:v>
                </c:pt>
                <c:pt idx="4">
                  <c:v>3.86</c:v>
                </c:pt>
                <c:pt idx="5">
                  <c:v>3.53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200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6B6B6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D6D6D6"/>
              </a:solidFill>
            </c:spPr>
          </c:dPt>
          <c:dPt>
            <c:idx val="1"/>
            <c:spPr>
              <a:solidFill>
                <a:srgbClr val="9A9A9A"/>
              </a:solidFill>
            </c:spPr>
          </c:dPt>
          <c:dPt>
            <c:idx val="2"/>
            <c:spPr>
              <a:solidFill>
                <a:srgbClr val="4D4D4D"/>
              </a:solidFill>
            </c:spPr>
          </c:dPt>
          <c:dPt>
            <c:idx val="3"/>
            <c:spPr>
              <a:solidFill>
                <a:srgbClr val="D52B1E"/>
              </a:solidFill>
            </c:spPr>
          </c:dPt>
          <c:cat>
            <c:strRef>
              <c:f>Sheet1!$A$2:$A$5</c:f>
              <c:strCache>
                <c:ptCount val="4"/>
                <c:pt idx="0">
                  <c:v>Past</c:v>
                </c:pt>
                <c:pt idx="1">
                  <c:v>O'rta</c:v>
                </c:pt>
                <c:pt idx="2">
                  <c:v>Yuqori</c:v>
                </c:pt>
                <c:pt idx="3">
                  <c:v>Kritik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8059</c:v>
                </c:pt>
                <c:pt idx="1">
                  <c:v>984</c:v>
                </c:pt>
                <c:pt idx="2">
                  <c:v>713</c:v>
                </c:pt>
                <c:pt idx="3">
                  <c:v>925</c:v>
                </c:pt>
              </c:numCache>
            </c:numRef>
          </c:val>
        </c:ser>
        <c:dLbls>
          <c:numFmt formatCode="# ##0" sourceLinked="0"/>
          <c:txPr>
            <a:bodyPr/>
            <a:lstStyle/>
            <a:p>
              <a:pPr>
                <a:defRPr sz="1200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6B6B6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111111"/>
              </a:solidFill>
            </c:spPr>
          </c:dPt>
          <c:dPt>
            <c:idx val="1"/>
            <c:spPr>
              <a:solidFill>
                <a:srgbClr val="111111"/>
              </a:solidFill>
            </c:spPr>
          </c:dPt>
          <c:dPt>
            <c:idx val="2"/>
            <c:spPr>
              <a:solidFill>
                <a:srgbClr val="111111"/>
              </a:solidFill>
            </c:spPr>
          </c:dPt>
          <c:dPt>
            <c:idx val="3"/>
            <c:spPr>
              <a:solidFill>
                <a:srgbClr val="111111"/>
              </a:solidFill>
            </c:spPr>
          </c:dPt>
          <c:dPt>
            <c:idx val="4"/>
            <c:spPr>
              <a:solidFill>
                <a:srgbClr val="111111"/>
              </a:solidFill>
            </c:spPr>
          </c:dPt>
          <c:cat>
            <c:strRef>
              <c:f>Sheet1!$A$2:$A$6</c:f>
              <c:strCache>
                <c:ptCount val="5"/>
                <c:pt idx="0">
                  <c:v>GPA</c:v>
                </c:pt>
                <c:pt idx="1">
                  <c:v>Yiqilgan fanlar</c:v>
                </c:pt>
                <c:pt idx="2">
                  <c:v>Topshiriqlar</c:v>
                </c:pt>
                <c:pt idx="3">
                  <c:v>Akademik tarix</c:v>
                </c:pt>
                <c:pt idx="4">
                  <c:v>Davomat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56.0</c:v>
                </c:pt>
                <c:pt idx="1">
                  <c:v>18.4</c:v>
                </c:pt>
                <c:pt idx="2">
                  <c:v>13.9</c:v>
                </c:pt>
                <c:pt idx="3">
                  <c:v>6.1</c:v>
                </c:pt>
                <c:pt idx="4">
                  <c:v>5.7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200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6B6B6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(20 soniya) Salomlashish. Loyiha nomi va bitta gap: bu tizim universitet rahbariyatiga ma'lumot asosida qaror qabul qilishga yordam beradi.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(40 soniya) Uchta muammo. Ma'lumot turli fayllarda; muammo semestr oxirida ko'rinadi; xavf ostidagi talaba o'qishni tashlagach aniqlanadi.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(40 soniya) Raqamlar bizning (sintetik) universitet ma'lumotidan. O'qishni tashlaganlar, hozir xavf ostidagilar, yiqilish darajasi va to'lanmagan kontrakt.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(40 soniya) To'rt daraja: tavsifiy, diagnostik, bashoratli, tavsiyaviy. Muhimi - ular alohida loyihalar emas, bitta ma'lumot oqimiga ulangan.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(50 soniya) Chapdan o'ngga: xom fayllar, Python ETL, SQL Server ombori. Ombordan uchta iste'molchi: dashboard, ML, AI agent. Hammasi bir xil tahlil qatlamidan foydalanadi.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(40 soniya) ETL olti bosqich. Qayta ishga tushirish dublikat yaratmaydi - MERGE. Yaroqsiz yozuvlar o'chirilmaydi, sababi bilan karantinga olinadi.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(40 soniya) Dashboard brauzerda ochiladi, sof Pythonda yozilgan. Chapda fakultetlar GPA taqqoslamasi. Bu yerda jonli demoga o'tish mumkin.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(50 soniya) Model keyingi semestrni bashorat qiladi va keyingi semestrda sinalgan. Accuracy yetarli emas: asosiy ko'rsatkich recall. False Negative - yordamsiz qolgan talaba.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(40 soniya) Model faqat 'xavf yuqori' demaydi. Har bir talaba uchun omillar ulushi ko'rsatiladi. Bu model nimaga tayanganini ko'rsatadi, sababni isbotlamaydi.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(50 soniya) Besh ssenariy. Eng katta samara - maqsadli dasturlarda. O'qituvchi yuklamasi bo'yicha sezilarli bog'liqlik topilmadi - bu ham topilma.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(50 soniya) Bu chatbot emas. Agent qaysi vositani chaqirishni o'zi tanlaydi, har bir raqam vosita natijasidan olinadi. Ma'lumot bo'lmasa - buni ochiq aytadi.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(50 soniya) To'rtta topilma, har biri raqam bilan. Anomaliyalar tizim tomonidan avtomatik aniqlangan; ehtimoliy sabab - tekshirish uchun yo'nalish.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(40 soniya) Tavsiyalar ustuvorlik tartibida va raqamga bog'langan. Birinchisi - eng yuqori xavfli fakultet. Ikkinchisi - pilot, chunki samarani faqat tajriba isbotlaydi.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(30 soniya) Uchta raqam simulyatsiyadan. Bular model bahosi - kafolat emas; haqiqiy samara pilot tajribada o'lchanadi.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(30 soniya) Tizim haqiqiy ma'lumotga ulanishga tayyor: faqat manba almashadi. Keyingi bosqich - pilot va semestr ichidagi erta ogohlantirish.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(30 soniya) Yakun: bu to'rt texnologiyani bitta qaror tizimiga birlashtirgan loyiha. Savollarga tayyorman - jonli demoni ko'rsatishim mumkin.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Arial"/>
              </a:rPr>
              <a:t>University Intelligence
&amp; AI Decision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79476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BDBDBD"/>
                </a:solidFill>
                <a:latin typeface="Arial"/>
              </a:rPr>
              <a:t>Universitet boshqaruvi uchun ma'lumotlarga asoslangan qarorlarni qo'llab-quvvatlash tizimi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1206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BDBDBD"/>
                </a:solidFill>
                <a:latin typeface="Arial"/>
              </a:rPr>
              <a:t>Data Engineering  ·  Data Analytics  ·  Machine Learning  ·  AI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11111"/>
                </a:solidFill>
                <a:latin typeface="Arial"/>
              </a:rPr>
              <a:t>Qarorlar kech va tarqoq ma'lumot asosida qabul qilinadi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Sintetik ma'lumot asosida · University Intelligence &amp; AI Decision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5508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3520440" cy="40233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965960"/>
            <a:ext cx="502920" cy="502920"/>
          </a:xfrm>
          <a:prstGeom prst="rect">
            <a:avLst/>
          </a:prstGeom>
          <a:solidFill>
            <a:srgbClr val="D5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4320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11111"/>
                </a:solidFill>
                <a:latin typeface="Arial"/>
              </a:rPr>
              <a:t>Ma'lumot tarqoq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29000"/>
            <a:ext cx="29260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11111"/>
                </a:solidFill>
                <a:latin typeface="Arial"/>
              </a:rPr>
              <a:t>Baholar, davomat, to'lov va topshiriqlar alohida fayl va tizimlarda. Yagona manzara yo'q.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79" y="1645920"/>
            <a:ext cx="3520440" cy="40233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17719" y="1965960"/>
            <a:ext cx="502920" cy="502920"/>
          </a:xfrm>
          <a:prstGeom prst="rect">
            <a:avLst/>
          </a:prstGeom>
          <a:solidFill>
            <a:srgbClr val="D5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19" y="274320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11111"/>
                </a:solidFill>
                <a:latin typeface="Arial"/>
              </a:rPr>
              <a:t>Qaror kechikadi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19" y="3429000"/>
            <a:ext cx="29260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11111"/>
                </a:solidFill>
                <a:latin typeface="Arial"/>
              </a:rPr>
              <a:t>Davomat pasayishi yoki fandan ommaviy yiqilish semestr yakunida, oqibatidan keyin ko'rinadi.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19" y="1645920"/>
            <a:ext cx="3520440" cy="40233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66759" y="1965960"/>
            <a:ext cx="502920" cy="502920"/>
          </a:xfrm>
          <a:prstGeom prst="rect">
            <a:avLst/>
          </a:prstGeom>
          <a:solidFill>
            <a:srgbClr val="D5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59" y="274320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11111"/>
                </a:solidFill>
                <a:latin typeface="Arial"/>
              </a:rPr>
              <a:t>Xavf kech aniqlanadi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59" y="3429000"/>
            <a:ext cx="29260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11111"/>
                </a:solidFill>
                <a:latin typeface="Arial"/>
              </a:rPr>
              <a:t>Qiynalayotgan talaba akademik qarzdor bo'lgach yoki o'qishni tashlagach ma'lum bo'ladi.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11111"/>
                </a:solidFill>
                <a:latin typeface="Arial"/>
              </a:rPr>
              <a:t>Har bir kechikkan qaror - yo'qotilgan talaba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Sintetik ma'lumot asosida · University Intelligence &amp; AI Decision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5508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2606040" cy="2377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21488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D52B1E"/>
                </a:solidFill>
                <a:latin typeface="Arial"/>
              </a:rPr>
              <a:t>724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80360"/>
            <a:ext cx="2148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Arial"/>
              </a:rPr>
              <a:t>talaba 4 yilda o'qishni tark etgan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5848" y="1828800"/>
            <a:ext cx="2606040" cy="2377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84448" y="2011680"/>
            <a:ext cx="21488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D52B1E"/>
                </a:solidFill>
                <a:latin typeface="Arial"/>
              </a:rPr>
              <a:t>1 638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84448" y="2880360"/>
            <a:ext cx="2148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Arial"/>
              </a:rPr>
              <a:t>faol talaba yuqori yoki kritik xavfda (15%)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3055" y="1828800"/>
            <a:ext cx="2606040" cy="2377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91655" y="2011680"/>
            <a:ext cx="21488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11111"/>
                </a:solidFill>
                <a:latin typeface="Arial"/>
              </a:rPr>
              <a:t>12.4%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91655" y="2880360"/>
            <a:ext cx="2148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Arial"/>
              </a:rPr>
              <a:t>fan natijalari - yiqilish (joriy semestr)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70263" y="1828800"/>
            <a:ext cx="2606040" cy="2377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98863" y="2011680"/>
            <a:ext cx="21488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11111"/>
                </a:solidFill>
                <a:latin typeface="Arial"/>
              </a:rPr>
              <a:t>48 mlrd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98863" y="2880360"/>
            <a:ext cx="2148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Arial"/>
              </a:rPr>
              <a:t>so'm to'lanmagan kontrakt qarzi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663440"/>
            <a:ext cx="11064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11111"/>
                </a:solidFill>
                <a:latin typeface="Arial"/>
              </a:rPr>
              <a:t>Bu holatlarning aksariyati oldindan ko'rinadi - agar ma'lumot bir joyda bo'lsa va undan to'g'ri savol so'ralsa.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11111"/>
                </a:solidFill>
                <a:latin typeface="Arial"/>
              </a:rPr>
              <a:t>Bitta tizim to'rt savolga javob beradi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Sintetik ma'lumot asosida · University Intelligence &amp; AI Decision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5508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2606040" cy="41148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2148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11111"/>
                </a:solidFill>
                <a:latin typeface="Arial"/>
              </a:rPr>
              <a:t>Nima bo'ldi?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0896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11111"/>
                </a:solidFill>
                <a:latin typeface="Arial"/>
              </a:rPr>
              <a:t>Tavsifiy tahlil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657600"/>
            <a:ext cx="21488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11111"/>
                </a:solidFill>
                <a:latin typeface="Arial"/>
              </a:rPr>
              <a:t>KPI, salomatlik bali, fakultet va fan ko'rsatkichlari</a:t>
            </a:r>
          </a:p>
        </p:txBody>
      </p:sp>
      <p:sp>
        <p:nvSpPr>
          <p:cNvPr id="9" name="Rectangle 8"/>
          <p:cNvSpPr/>
          <p:nvPr/>
        </p:nvSpPr>
        <p:spPr>
          <a:xfrm>
            <a:off x="3355848" y="1645920"/>
            <a:ext cx="2606040" cy="41148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84448" y="1920240"/>
            <a:ext cx="2148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11111"/>
                </a:solidFill>
                <a:latin typeface="Arial"/>
              </a:rPr>
              <a:t>Nega bo'ldi?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4448" y="310896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11111"/>
                </a:solidFill>
                <a:latin typeface="Arial"/>
              </a:rPr>
              <a:t>Diagnostik tahlil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3657600"/>
            <a:ext cx="21488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11111"/>
                </a:solidFill>
                <a:latin typeface="Arial"/>
              </a:rPr>
              <a:t>Chuqurlashish, anomaliyalar, omillar tahlili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63055" y="1645920"/>
            <a:ext cx="2606040" cy="41148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1655" y="1920240"/>
            <a:ext cx="2148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11111"/>
                </a:solidFill>
                <a:latin typeface="Arial"/>
              </a:rPr>
              <a:t>Nima bo'ladi?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655" y="310896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11111"/>
                </a:solidFill>
                <a:latin typeface="Arial"/>
              </a:rPr>
              <a:t>Bashoratli tahlil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5" y="3657600"/>
            <a:ext cx="21488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11111"/>
                </a:solidFill>
                <a:latin typeface="Arial"/>
              </a:rPr>
              <a:t>Talaba xavfi modeli, keyingi semestr GPA bashorati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70263" y="1645920"/>
            <a:ext cx="2606040" cy="41148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98863" y="1920240"/>
            <a:ext cx="2148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Nima qilish kerak?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98863" y="310896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BDBDBD"/>
                </a:solidFill>
                <a:latin typeface="Arial"/>
              </a:rPr>
              <a:t>Tavsiyaviy tahlil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98863" y="3657600"/>
            <a:ext cx="21488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«Agar...» ssenariylari, alertlar, AI agent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11111"/>
                </a:solidFill>
                <a:latin typeface="Arial"/>
              </a:rPr>
              <a:t>Arxitektura: ma'lumotdan qarorgacha bitta oqim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Sintetik ma'lumot asosida · University Intelligence &amp; AI Decision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5508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743200"/>
            <a:ext cx="1874519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880360"/>
            <a:ext cx="1600199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111111"/>
                </a:solidFill>
                <a:latin typeface="Arial"/>
              </a:rPr>
              <a:t>Manbalar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Arial"/>
              </a:rPr>
              <a:t>CSV · Excel · JSON
11 turdagi fayl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14600" y="3291840"/>
            <a:ext cx="320040" cy="274320"/>
          </a:xfrm>
          <a:prstGeom prst="rightArrow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926080" y="2743200"/>
            <a:ext cx="1874519" cy="13716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40" y="2880360"/>
            <a:ext cx="1600199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Python ETL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tozalash · tekshirish
transformatsiya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92040" y="3291840"/>
            <a:ext cx="320040" cy="274320"/>
          </a:xfrm>
          <a:prstGeom prst="rightArrow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03520" y="2743200"/>
            <a:ext cx="2011680" cy="13716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40680" y="288036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SQL Server ombori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yulduz sxemasi
7 o'lchov · 6 fakt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406640" y="3291840"/>
            <a:ext cx="320040" cy="274320"/>
          </a:xfrm>
          <a:prstGeom prst="rightArrow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18120" y="1600200"/>
            <a:ext cx="2011680" cy="10972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0" y="1737360"/>
            <a:ext cx="1737360" cy="8229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111111"/>
                </a:solidFill>
                <a:latin typeface="Arial"/>
              </a:rPr>
              <a:t>Dashboard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Arial"/>
              </a:rPr>
              <a:t>7 sahifa · Streamlit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18120" y="2880360"/>
            <a:ext cx="2011680" cy="10972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0" y="3017520"/>
            <a:ext cx="1737360" cy="8229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111111"/>
                </a:solidFill>
                <a:latin typeface="Arial"/>
              </a:rPr>
              <a:t>ML modellari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Arial"/>
              </a:rPr>
              <a:t>xavf · tushuntirish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18120" y="4160520"/>
            <a:ext cx="2011680" cy="10972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0" y="4297680"/>
            <a:ext cx="1737360" cy="8229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111111"/>
                </a:solidFill>
                <a:latin typeface="Arial"/>
              </a:rPr>
              <a:t>AI agent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Arial"/>
              </a:rPr>
              <a:t>9 vosita · LLM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921240" y="3291840"/>
            <a:ext cx="320040" cy="274320"/>
          </a:xfrm>
          <a:prstGeom prst="rightArrow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332720" y="2743200"/>
            <a:ext cx="1325880" cy="1371600"/>
          </a:xfrm>
          <a:prstGeom prst="rect">
            <a:avLst/>
          </a:prstGeom>
          <a:solidFill>
            <a:srgbClr val="D5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69880" y="2880360"/>
            <a:ext cx="10515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Qaror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rahbariyat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53212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B6B6B"/>
                </a:solidFill>
                <a:latin typeface="Arial"/>
              </a:rPr>
              <a:t>Dashboard va AI agent bir xil tahlil funksiyalarini chaqiradi - grafikdagi va javobdagi raqam hech qachon farq qilmaydi.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11111"/>
                </a:solidFill>
                <a:latin typeface="Arial"/>
              </a:rPr>
              <a:t>Ishonchli ma'lumot: har bir yozuv tekshiruvdan o'tadi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Sintetik ma'lumot asosida · University Intelligence &amp; AI Decision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5508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solidFill>
            <a:srgbClr val="D5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00200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11111"/>
                </a:solidFill>
                <a:latin typeface="Arial"/>
              </a:rPr>
              <a:t>Extract - faqat yangi yoki o'zgargan fayllar (xesh bo'yicha)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31720"/>
            <a:ext cx="457200" cy="457200"/>
          </a:xfrm>
          <a:prstGeom prst="rect">
            <a:avLst/>
          </a:prstGeom>
          <a:solidFill>
            <a:srgbClr val="D5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331720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11111"/>
                </a:solidFill>
                <a:latin typeface="Arial"/>
              </a:rPr>
              <a:t>Clean - format, tur, bo'sh qiymat, dublikat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063240"/>
            <a:ext cx="457200" cy="457200"/>
          </a:xfrm>
          <a:prstGeom prst="rect">
            <a:avLst/>
          </a:prstGeom>
          <a:solidFill>
            <a:srgbClr val="D5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63240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11111"/>
                </a:solidFill>
                <a:latin typeface="Arial"/>
              </a:rPr>
              <a:t>Validate - oraliq, chetlanish, bog'lanish yaxlitligi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94760"/>
            <a:ext cx="457200" cy="457200"/>
          </a:xfrm>
          <a:prstGeom prst="rect">
            <a:avLst/>
          </a:prstGeom>
          <a:solidFill>
            <a:srgbClr val="D5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794760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11111"/>
                </a:solidFill>
                <a:latin typeface="Arial"/>
              </a:rPr>
              <a:t>Stage - toza yozuvlar staging jadvallarida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526280"/>
            <a:ext cx="457200" cy="457200"/>
          </a:xfrm>
          <a:prstGeom prst="rect">
            <a:avLst/>
          </a:prstGeom>
          <a:solidFill>
            <a:srgbClr val="D5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526280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11111"/>
                </a:solidFill>
                <a:latin typeface="Arial"/>
              </a:rPr>
              <a:t>Load - MERGE: qayta yuklash dublikat yaratmaydi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257800"/>
            <a:ext cx="457200" cy="457200"/>
          </a:xfrm>
          <a:prstGeom prst="rect">
            <a:avLst/>
          </a:prstGeom>
          <a:solidFill>
            <a:srgbClr val="D5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257800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11111"/>
                </a:solidFill>
                <a:latin typeface="Arial"/>
              </a:rPr>
              <a:t>Test - har ishga tushirishdan keyin avtomatik tekshiruv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79" y="1554480"/>
            <a:ext cx="4114800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79" y="173736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11111"/>
                </a:solidFill>
                <a:latin typeface="Arial"/>
              </a:rPr>
              <a:t>4 536 519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2606039"/>
            <a:ext cx="3657600" cy="182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Arial"/>
              </a:rPr>
              <a:t>ombordagi fakt yozuvlari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79" y="3063240"/>
            <a:ext cx="4114800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26679" y="324612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11111"/>
                </a:solidFill>
                <a:latin typeface="Arial"/>
              </a:rPr>
              <a:t>98.89%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79" y="4114800"/>
            <a:ext cx="3657600" cy="182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Arial"/>
              </a:rPr>
              <a:t>ma'lumotlar sifati bali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79" y="4572000"/>
            <a:ext cx="4114800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79" y="47548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11111"/>
                </a:solidFill>
                <a:latin typeface="Arial"/>
              </a:rPr>
              <a:t>2 784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5623560"/>
            <a:ext cx="3657600" cy="182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Arial"/>
              </a:rPr>
              <a:t>yaroqsiz yozuv karantinga olingan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11111"/>
                </a:solidFill>
                <a:latin typeface="Arial"/>
              </a:rPr>
              <a:t>Boshqaruv paneli: har bir sahifa bitta savolga javob beradi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Sintetik ma'lumot asosida · University Intelligence &amp; AI Decision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5508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11111"/>
                </a:solidFill>
                <a:latin typeface="Arial"/>
              </a:rPr>
              <a:t>Fakultetlar bo'yicha o'rtacha GPA (2026-2027 Kuz)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828800"/>
          <a:ext cx="5852160" cy="4206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6675120" y="1554480"/>
            <a:ext cx="4983480" cy="1005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627632"/>
            <a:ext cx="45720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11111"/>
                </a:solidFill>
                <a:latin typeface="Arial"/>
              </a:rPr>
              <a:t>Hozir nima bo'lyapti?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Arial"/>
              </a:rPr>
              <a:t>Umumiy ko'rinish · Fakultetlar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5120" y="2697480"/>
            <a:ext cx="4983480" cy="1005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2770632"/>
            <a:ext cx="45720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11111"/>
                </a:solidFill>
                <a:latin typeface="Arial"/>
              </a:rPr>
              <a:t>Imtihonlar qanday o'tdi?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Arial"/>
              </a:rPr>
              <a:t>Imtihon natijalari: oraliq va yakuniy nazorat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3840480"/>
            <a:ext cx="4983480" cy="1005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03720" y="3913632"/>
            <a:ext cx="45720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11111"/>
                </a:solidFill>
                <a:latin typeface="Arial"/>
              </a:rPr>
              <a:t>Kimga yordam kerak?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Arial"/>
              </a:rPr>
              <a:t>Xavf ostidagi talabalar va sabablari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4983480"/>
            <a:ext cx="4983480" cy="1005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5056632"/>
            <a:ext cx="45720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11111"/>
                </a:solidFill>
                <a:latin typeface="Arial"/>
              </a:rPr>
              <a:t>Nima qilish kerak?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Arial"/>
              </a:rPr>
              <a:t>«Agar...» ssenariylari · AI yordamchi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11111"/>
                </a:solidFill>
                <a:latin typeface="Arial"/>
              </a:rPr>
              <a:t>Model xavf ostidagi talabalarning 79% qismini oldindan topadi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Sintetik ma'lumot asosida · University Intelligence &amp; AI Decision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5508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2514600" cy="1920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20574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11111"/>
                </a:solidFill>
                <a:latin typeface="Arial"/>
              </a:rPr>
              <a:t>79%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97480"/>
            <a:ext cx="2057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Arial"/>
              </a:rPr>
              <a:t>Recall - topilgan xavf ostidagi talabalar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645920"/>
            <a:ext cx="2514600" cy="1920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828800"/>
            <a:ext cx="20574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11111"/>
                </a:solidFill>
                <a:latin typeface="Arial"/>
              </a:rPr>
              <a:t>70%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697480"/>
            <a:ext cx="2057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Arial"/>
              </a:rPr>
              <a:t>Precision - belgilanganlar ichida haqiqiylari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2514600" cy="1920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931920"/>
            <a:ext cx="20574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11111"/>
                </a:solidFill>
                <a:latin typeface="Arial"/>
              </a:rPr>
              <a:t>0.94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800600"/>
            <a:ext cx="2057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Arial"/>
              </a:rPr>
              <a:t>ROC-AUC - saralash sifati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3749039"/>
            <a:ext cx="2514600" cy="1920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3931920"/>
            <a:ext cx="20574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D52B1E"/>
                </a:solidFill>
                <a:latin typeface="Arial"/>
              </a:rPr>
              <a:t>418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4800600"/>
            <a:ext cx="2057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Arial"/>
              </a:rPr>
              <a:t>False Negative - o'tkazib yuborilgan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5544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11111"/>
                </a:solidFill>
                <a:latin typeface="Arial"/>
              </a:rPr>
              <a:t>Faol talabalar xavf darajasi bo'yicha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6217920" y="1920240"/>
          <a:ext cx="5486400" cy="32918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309360" y="5303520"/>
            <a:ext cx="5303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Arial"/>
              </a:rPr>
              <a:t>4 ta model taqqoslandi; tanlangani: Random Forest. Sinov - o'qitishda ishtirok etmagan keyingi semestr.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11111"/>
                </a:solidFill>
                <a:latin typeface="Arial"/>
              </a:rPr>
              <a:t>Har bir bashorat tushuntiriladi: nima uchun xavf yuqori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Sintetik ma'lumot asosida · University Intelligence &amp; AI Decision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5508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4754880" cy="4206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Arial"/>
              </a:rPr>
              <a:t>Misol: talaba ID 4700 · Biznes va menejment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42062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D52B1E"/>
                </a:solidFill>
                <a:latin typeface="Arial"/>
              </a:rPr>
              <a:t>81%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0040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Arial"/>
              </a:rPr>
              <a:t>keyingi semestr uchun xavf ehtimoli (Kritik)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420624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11111"/>
                </a:solidFill>
                <a:latin typeface="Arial"/>
              </a:rPr>
              <a:t>Joriy semestr GPA: 2.16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11111"/>
                </a:solidFill>
                <a:latin typeface="Arial"/>
              </a:rPr>
              <a:t>Davomat: 62%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11111"/>
                </a:solidFill>
                <a:latin typeface="Arial"/>
              </a:rPr>
              <a:t>Yiqilgan fanlar: 4 (jami 19)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11111"/>
                </a:solidFill>
                <a:latin typeface="Arial"/>
              </a:rPr>
              <a:t>Topshiriq topshirish: 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155448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11111"/>
                </a:solidFill>
                <a:latin typeface="Arial"/>
              </a:rPr>
              <a:t>Omillarning xavfdagi ulushi, %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669280" y="1920240"/>
          <a:ext cx="6035040" cy="32918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760720" y="5303520"/>
            <a:ext cx="5852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Arial"/>
              </a:rPr>
              <a:t>Usul: omil qiymatlari tipik xavfsiz talaba qiymatlari bilan almashtiriladi va bashorat qanchaga kamayishi o'lchanadi.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11111"/>
                </a:solidFill>
                <a:latin typeface="Arial"/>
              </a:rPr>
              <a:t>«Agar...» ssenariylari: qaror ta'siri oldindan baholanadi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Sintetik ma'lumot asosida · University Intelligence &amp; AI Decision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5508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00200"/>
          <a:ext cx="11064240" cy="3730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960"/>
                <a:gridCol w="1463040"/>
                <a:gridCol w="1554480"/>
                <a:gridCol w="1097280"/>
                <a:gridCol w="1554480"/>
              </a:tblGrid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Ssenariy</a:t>
                      </a:r>
                    </a:p>
                  </a:txBody>
                  <a:tcPr anchor="ctr" marL="109728" marR="109728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Qamrov</a:t>
                      </a:r>
                    </a:p>
                  </a:txBody>
                  <a:tcPr anchor="ctr" marL="109728" marR="109728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Xavf ostidagilar</a:t>
                      </a:r>
                    </a:p>
                  </a:txBody>
                  <a:tcPr anchor="ctr" marL="109728" marR="109728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GPA</a:t>
                      </a:r>
                    </a:p>
                  </a:txBody>
                  <a:tcPr anchor="ctr" marL="109728" marR="109728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Yiqilish</a:t>
                      </a:r>
                    </a:p>
                  </a:txBody>
                  <a:tcPr anchor="ctr" marL="109728" marR="109728">
                    <a:solidFill>
                      <a:srgbClr val="11111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rial"/>
                        </a:rPr>
                        <a:t>Davomat 5 foiz punktga pasaysa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111"/>
                          </a:solidFill>
                          <a:latin typeface="Arial"/>
                        </a:rPr>
                        <a:t>10 681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111"/>
                          </a:solidFill>
                          <a:latin typeface="Arial"/>
                        </a:rPr>
                        <a:t>+128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111"/>
                          </a:solidFill>
                          <a:latin typeface="Arial"/>
                        </a:rPr>
                        <a:t>-0.04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111"/>
                          </a:solidFill>
                          <a:latin typeface="Arial"/>
                        </a:rPr>
                        <a:t>+1.2 f.p.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rial"/>
                        </a:rPr>
                        <a:t>Talabalarning 30 foiziga tyutorlik dasturi berilsa</a:t>
                      </a:r>
                    </a:p>
                  </a:txBody>
                  <a:tcPr anchor="ctr" marL="109728" marR="10972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111"/>
                          </a:solidFill>
                          <a:latin typeface="Arial"/>
                        </a:rPr>
                        <a:t>3 204</a:t>
                      </a:r>
                    </a:p>
                  </a:txBody>
                  <a:tcPr anchor="ctr" marL="109728" marR="10972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111"/>
                          </a:solidFill>
                          <a:latin typeface="Arial"/>
                        </a:rPr>
                        <a:t>-461</a:t>
                      </a:r>
                    </a:p>
                  </a:txBody>
                  <a:tcPr anchor="ctr" marL="109728" marR="10972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111"/>
                          </a:solidFill>
                          <a:latin typeface="Arial"/>
                        </a:rPr>
                        <a:t>+0.06</a:t>
                      </a:r>
                    </a:p>
                  </a:txBody>
                  <a:tcPr anchor="ctr" marL="109728" marR="10972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111"/>
                          </a:solidFill>
                          <a:latin typeface="Arial"/>
                        </a:rPr>
                        <a:t>-2.7 f.p.</a:t>
                      </a:r>
                    </a:p>
                  </a:txBody>
                  <a:tcPr anchor="ctr" marL="109728" marR="109728">
                    <a:solidFill>
                      <a:srgbClr val="F2F2F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rial"/>
                        </a:rPr>
                        <a:t>Xavf ostidagi talabalarga maqsadli aralashuv qilinsa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111"/>
                          </a:solidFill>
                          <a:latin typeface="Arial"/>
                        </a:rPr>
                        <a:t>1 638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111"/>
                          </a:solidFill>
                          <a:latin typeface="Arial"/>
                        </a:rPr>
                        <a:t>-30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111"/>
                          </a:solidFill>
                          <a:latin typeface="Arial"/>
                        </a:rPr>
                        <a:t>+0.01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111"/>
                          </a:solidFill>
                          <a:latin typeface="Arial"/>
                        </a:rPr>
                        <a:t>-0.6 f.p.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rial"/>
                        </a:rPr>
                        <a:t>O'qituvchi yuklamasi 10 foizga kamaytirilsa</a:t>
                      </a:r>
                    </a:p>
                  </a:txBody>
                  <a:tcPr anchor="ctr" marL="109728" marR="10972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111"/>
                          </a:solidFill>
                          <a:latin typeface="Arial"/>
                        </a:rPr>
                        <a:t>10 681</a:t>
                      </a:r>
                    </a:p>
                  </a:txBody>
                  <a:tcPr anchor="ctr" marL="109728" marR="10972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111"/>
                          </a:solidFill>
                          <a:latin typeface="Arial"/>
                        </a:rPr>
                        <a:t>-6</a:t>
                      </a:r>
                    </a:p>
                  </a:txBody>
                  <a:tcPr anchor="ctr" marL="109728" marR="10972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111"/>
                          </a:solidFill>
                          <a:latin typeface="Arial"/>
                        </a:rPr>
                        <a:t>+0.00</a:t>
                      </a:r>
                    </a:p>
                  </a:txBody>
                  <a:tcPr anchor="ctr" marL="109728" marR="10972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111"/>
                          </a:solidFill>
                          <a:latin typeface="Arial"/>
                        </a:rPr>
                        <a:t>+0.0 f.p.</a:t>
                      </a:r>
                    </a:p>
                  </a:txBody>
                  <a:tcPr anchor="ctr" marL="109728" marR="109728">
                    <a:solidFill>
                      <a:srgbClr val="F2F2F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111"/>
                          </a:solidFill>
                          <a:latin typeface="Arial"/>
                        </a:rPr>
                        <a:t>Topshiriqlarni bajarish 15 foiz punktga oshsa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111"/>
                          </a:solidFill>
                          <a:latin typeface="Arial"/>
                        </a:rPr>
                        <a:t>10 681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111"/>
                          </a:solidFill>
                          <a:latin typeface="Arial"/>
                        </a:rPr>
                        <a:t>-222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111"/>
                          </a:solidFill>
                          <a:latin typeface="Arial"/>
                        </a:rPr>
                        <a:t>+0.01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11111"/>
                          </a:solidFill>
                          <a:latin typeface="Arial"/>
                        </a:rPr>
                        <a:t>-0.5 f.p.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Arial"/>
              </a:rPr>
              <a:t>Model asosidagi baho: kuzatilgan bog'liqliklarga tayanadi, kafolatlangan sabab-oqibat emas. Dasturlar ta'sir kuchi - sozlanadigan faraz.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11111"/>
                </a:solidFill>
                <a:latin typeface="Arial"/>
              </a:rPr>
              <a:t>AI agent: savol tabiiy tilda, javob faqat ma'lumotdan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Sintetik ma'lumot asosida · University Intelligence &amp; AI Decision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5508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11111"/>
                </a:solidFill>
                <a:latin typeface="Arial"/>
              </a:rPr>
              <a:t>9 ta vosita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1645920" cy="9601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011680"/>
            <a:ext cx="1426464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11111"/>
                </a:solidFill>
                <a:latin typeface="Arial"/>
              </a:rPr>
              <a:t>Universitet holati</a:t>
            </a:r>
          </a:p>
        </p:txBody>
      </p:sp>
      <p:sp>
        <p:nvSpPr>
          <p:cNvPr id="8" name="Rectangle 7"/>
          <p:cNvSpPr/>
          <p:nvPr/>
        </p:nvSpPr>
        <p:spPr>
          <a:xfrm>
            <a:off x="2331720" y="2011680"/>
            <a:ext cx="1645920" cy="9601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41448" y="2011680"/>
            <a:ext cx="1426464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11111"/>
                </a:solidFill>
                <a:latin typeface="Arial"/>
              </a:rPr>
              <a:t>Fakultetlar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2011680"/>
            <a:ext cx="1645920" cy="9601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24528" y="2011680"/>
            <a:ext cx="1426464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11111"/>
                </a:solidFill>
                <a:latin typeface="Arial"/>
              </a:rPr>
              <a:t>Imtihonlar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54680"/>
            <a:ext cx="1645920" cy="9601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154680"/>
            <a:ext cx="1426464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11111"/>
                </a:solidFill>
                <a:latin typeface="Arial"/>
              </a:rPr>
              <a:t>Talabalar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31720" y="3154680"/>
            <a:ext cx="1645920" cy="9601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41448" y="3154680"/>
            <a:ext cx="1426464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11111"/>
                </a:solidFill>
                <a:latin typeface="Arial"/>
              </a:rPr>
              <a:t>Fanlar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0" y="3154680"/>
            <a:ext cx="1645920" cy="9601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24528" y="3154680"/>
            <a:ext cx="1426464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11111"/>
                </a:solidFill>
                <a:latin typeface="Arial"/>
              </a:rPr>
              <a:t>ML bashorati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297680"/>
            <a:ext cx="1645920" cy="9601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1426464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11111"/>
                </a:solidFill>
                <a:latin typeface="Arial"/>
              </a:rPr>
              <a:t>Ssenariylar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31720" y="4297680"/>
            <a:ext cx="1645920" cy="9601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41448" y="4297680"/>
            <a:ext cx="1426464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11111"/>
                </a:solidFill>
                <a:latin typeface="Arial"/>
              </a:rPr>
              <a:t>SQL (o'qish)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4297680"/>
            <a:ext cx="1645920" cy="9601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24528" y="4297680"/>
            <a:ext cx="1426464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11111"/>
                </a:solidFill>
                <a:latin typeface="Arial"/>
              </a:rPr>
              <a:t>Hisobot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1554480"/>
            <a:ext cx="5394960" cy="379476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1783080"/>
            <a:ext cx="4846320" cy="3337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DBDBD"/>
                </a:solidFill>
                <a:latin typeface="Arial"/>
              </a:rPr>
              <a:t>SAVOL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Qaysi fakultetda akademik xavf eng yuqori?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BDBDBD"/>
                </a:solidFill>
                <a:latin typeface="Arial"/>
              </a:rPr>
              <a:t>JAVOB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Iqtisodiyot: yuqori/kritik xavfda 487 talaba (22.5%), GPA 3.53, davomat 88.6%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BDBDBD"/>
                </a:solidFill>
                <a:latin typeface="Arial"/>
              </a:rPr>
              <a:t>HIMOYA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Vositalar izi ko'rsatiladi · rolga qarab kirish · SQL faqat SELECT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11111"/>
                </a:solidFill>
                <a:latin typeface="Arial"/>
              </a:rPr>
              <a:t>Asosiy topilmalar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Sintetik ma'lumot asosida · University Intelligence &amp; AI Decision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5508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5440680" cy="2011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59" y="1920240"/>
            <a:ext cx="502920" cy="502920"/>
          </a:xfrm>
          <a:prstGeom prst="rect">
            <a:avLst/>
          </a:prstGeom>
          <a:solidFill>
            <a:srgbClr val="D5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920240"/>
            <a:ext cx="4251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11111"/>
                </a:solidFill>
                <a:latin typeface="Arial"/>
              </a:rPr>
              <a:t>Iqtisodiyot fakulteti xavf zonasida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606040"/>
            <a:ext cx="48920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11111"/>
                </a:solidFill>
                <a:latin typeface="Arial"/>
              </a:rPr>
              <a:t>Xavf ostidagilar 22%; GPA uch yil ketma-ket pasaymoqda: 3.65 → 3.60 → 3.53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645920"/>
            <a:ext cx="5440680" cy="2011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46520" y="1920240"/>
            <a:ext cx="502920" cy="502920"/>
          </a:xfrm>
          <a:prstGeom prst="rect">
            <a:avLst/>
          </a:prstGeom>
          <a:solidFill>
            <a:srgbClr val="D5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920240"/>
            <a:ext cx="4251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11111"/>
                </a:solidFill>
                <a:latin typeface="Arial"/>
              </a:rPr>
              <a:t>Xavfni akademik tarix tushuntiradi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606040"/>
            <a:ext cx="48920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11111"/>
                </a:solidFill>
                <a:latin typeface="Arial"/>
              </a:rPr>
              <a:t>GPA 78%, Topshiriqlar 9%, Yiqilgan fanlar 8%. Davomat ta'siri GPA orqali aks etgan.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886200"/>
            <a:ext cx="5440680" cy="2011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59" y="4160520"/>
            <a:ext cx="502920" cy="502920"/>
          </a:xfrm>
          <a:prstGeom prst="rect">
            <a:avLst/>
          </a:prstGeom>
          <a:solidFill>
            <a:srgbClr val="D5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160520"/>
            <a:ext cx="4251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11111"/>
                </a:solidFill>
                <a:latin typeface="Arial"/>
              </a:rPr>
              <a:t>Oraliq nazorat - erta ogohlantirish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846320"/>
            <a:ext cx="48920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11111"/>
                </a:solidFill>
                <a:latin typeface="Arial"/>
              </a:rPr>
              <a:t>Oraliqda 60% dan past olganlarning 72% qismi yakuniy nazoratdan o'tmagan. Yakuniyga qo'yilmaganlar: 4.2%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3886200"/>
            <a:ext cx="5440680" cy="2011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46520" y="4160520"/>
            <a:ext cx="502920" cy="502920"/>
          </a:xfrm>
          <a:prstGeom prst="rect">
            <a:avLst/>
          </a:prstGeom>
          <a:solidFill>
            <a:srgbClr val="D5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4160520"/>
            <a:ext cx="4251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11111"/>
                </a:solidFill>
                <a:latin typeface="Arial"/>
              </a:rPr>
              <a:t>Anomaliya: Ma'lumotlar tahlili (Axborot texnologiyalari)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846320"/>
            <a:ext cx="48920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11111"/>
                </a:solidFill>
                <a:latin typeface="Arial"/>
              </a:rPr>
              <a:t>2025-2026 Bahor: yiqilish darajasi odatdagidan keskin yuqori (6.4% → 28.1%)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11111"/>
                </a:solidFill>
                <a:latin typeface="Arial"/>
              </a:rPr>
              <a:t>Tavsiyalar: kimga, nima va qaysi tartibda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Sintetik ma'lumot asosida · University Intelligence &amp; AI Decision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5508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11064240" cy="9601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502920" cy="502920"/>
          </a:xfrm>
          <a:prstGeom prst="rect">
            <a:avLst/>
          </a:prstGeom>
          <a:solidFill>
            <a:srgbClr val="D5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69164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11111"/>
                </a:solidFill>
                <a:latin typeface="Arial"/>
              </a:rPr>
              <a:t>Iqtisodiyot fakultetida maqsadli akademik dastur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10312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Arial"/>
              </a:rPr>
              <a:t>487 nafar yuqori/kritik xavfdagi talaba bilan birinchi navbatda ishlash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97480"/>
            <a:ext cx="11064240" cy="9601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926080"/>
            <a:ext cx="502920" cy="502920"/>
          </a:xfrm>
          <a:prstGeom prst="rect">
            <a:avLst/>
          </a:prstGeom>
          <a:solidFill>
            <a:srgbClr val="D5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78892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11111"/>
                </a:solidFill>
                <a:latin typeface="Arial"/>
              </a:rPr>
              <a:t>Tyutorlik dasturini pilot sifatida sinash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20040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Arial"/>
              </a:rPr>
              <a:t>Xavfi eng yuqori 30% talaba; model bahosi: xavf ostidagilar -461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794760"/>
            <a:ext cx="11064240" cy="9601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4023360"/>
            <a:ext cx="502920" cy="502920"/>
          </a:xfrm>
          <a:prstGeom prst="rect">
            <a:avLst/>
          </a:prstGeom>
          <a:solidFill>
            <a:srgbClr val="D5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88620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11111"/>
                </a:solidFill>
                <a:latin typeface="Arial"/>
              </a:rPr>
              <a:t>Xavfdagi talabalarga maslahatchi biriktirish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29768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Arial"/>
              </a:rPr>
              <a:t>Model bahosi: yuqori/kritik guruh -258 talabaga o'zgaradi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892040"/>
            <a:ext cx="11064240" cy="9601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5120640"/>
            <a:ext cx="502920" cy="502920"/>
          </a:xfrm>
          <a:prstGeom prst="rect">
            <a:avLst/>
          </a:prstGeom>
          <a:solidFill>
            <a:srgbClr val="D5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983479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11111"/>
                </a:solidFill>
                <a:latin typeface="Arial"/>
              </a:rPr>
              <a:t>Anomaliya aniqlangan fanlarni ko'rib chiqish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5394959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Arial"/>
              </a:rPr>
              <a:t>Imtihon materiallari va baholash mezonlari tekshiriladi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11111"/>
                </a:solidFill>
                <a:latin typeface="Arial"/>
              </a:rPr>
              <a:t>Kutilayotgan ta'sir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Sintetik ma'lumot asosida · University Intelligence &amp; AI Decision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5508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3520440" cy="2286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3063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11111"/>
                </a:solidFill>
                <a:latin typeface="Arial"/>
              </a:rPr>
              <a:t>-461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88920"/>
            <a:ext cx="3063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Arial"/>
              </a:rPr>
              <a:t>xavf ostidagi talaba - tyutorlik dasturi (30% qamrov)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737360"/>
            <a:ext cx="3520440" cy="2286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920240"/>
            <a:ext cx="3063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11111"/>
                </a:solidFill>
                <a:latin typeface="Arial"/>
              </a:rPr>
              <a:t>-258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788920"/>
            <a:ext cx="3063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Arial"/>
              </a:rPr>
              <a:t>yuqori/kritik xavfdagi talaba - maqsadli aralashuv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737360"/>
            <a:ext cx="3474720" cy="2286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92024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D52B1E"/>
                </a:solidFill>
                <a:latin typeface="Arial"/>
              </a:rPr>
              <a:t>+128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788920"/>
            <a:ext cx="3017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Arial"/>
              </a:rPr>
              <a:t>xavf ostidagi talaba - agar davomat 5 f.p. pasaysa (harakatsizlik narxi)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89120"/>
            <a:ext cx="110642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11111"/>
                </a:solidFill>
                <a:latin typeface="Arial"/>
              </a:rPr>
              <a:t>Xavf ostidagi talaba semestr yakunida emas, keyingi semestr boshlanishidan oldin aniqlanadi.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11111"/>
                </a:solidFill>
                <a:latin typeface="Arial"/>
              </a:rPr>
              <a:t>Resurslar eng katta samara kutilgan guruhga yo'naltiriladi.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11111"/>
                </a:solidFill>
                <a:latin typeface="Arial"/>
              </a:rPr>
              <a:t>Rahbariyat, dekanat va o'qituvchilar yagona manbadagi raqamlar bilan ishlaydi.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11111"/>
                </a:solidFill>
                <a:latin typeface="Arial"/>
              </a:rPr>
              <a:t>Keyingi qadamlar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Sintetik ma'lumot asosida · University Intelligence &amp; AI Decision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5508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2606040" cy="3291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011680"/>
            <a:ext cx="502920" cy="502920"/>
          </a:xfrm>
          <a:prstGeom prst="rect">
            <a:avLst/>
          </a:prstGeom>
          <a:solidFill>
            <a:srgbClr val="D5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43200"/>
            <a:ext cx="2148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11111"/>
                </a:solidFill>
                <a:latin typeface="Arial"/>
              </a:rPr>
              <a:t>Haqiqiy ma'lumot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611880"/>
            <a:ext cx="21488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11111"/>
                </a:solidFill>
                <a:latin typeface="Arial"/>
              </a:rPr>
              <a:t>LMS, kontingent va buxgalteriya tizimlariga ulanish</a:t>
            </a:r>
          </a:p>
        </p:txBody>
      </p:sp>
      <p:sp>
        <p:nvSpPr>
          <p:cNvPr id="9" name="Rectangle 8"/>
          <p:cNvSpPr/>
          <p:nvPr/>
        </p:nvSpPr>
        <p:spPr>
          <a:xfrm>
            <a:off x="3355848" y="1737360"/>
            <a:ext cx="2606040" cy="3291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84448" y="2011680"/>
            <a:ext cx="502920" cy="502920"/>
          </a:xfrm>
          <a:prstGeom prst="rect">
            <a:avLst/>
          </a:prstGeom>
          <a:solidFill>
            <a:srgbClr val="D5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4448" y="2743200"/>
            <a:ext cx="2148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11111"/>
                </a:solidFill>
                <a:latin typeface="Arial"/>
              </a:rPr>
              <a:t>Erta ogohlantirish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3611880"/>
            <a:ext cx="21488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11111"/>
                </a:solidFill>
                <a:latin typeface="Arial"/>
              </a:rPr>
              <a:t>Semestr ichida, haftalik davomat va topshiriqlar asosida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63055" y="1737360"/>
            <a:ext cx="2606040" cy="3291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91655" y="2011680"/>
            <a:ext cx="502920" cy="502920"/>
          </a:xfrm>
          <a:prstGeom prst="rect">
            <a:avLst/>
          </a:prstGeom>
          <a:solidFill>
            <a:srgbClr val="D5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655" y="2743200"/>
            <a:ext cx="2148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11111"/>
                </a:solidFill>
                <a:latin typeface="Arial"/>
              </a:rPr>
              <a:t>Pilot tajribalar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5" y="3611880"/>
            <a:ext cx="21488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11111"/>
                </a:solidFill>
                <a:latin typeface="Arial"/>
              </a:rPr>
              <a:t>Aralashuv samarasini o'lchash va simulyatsiyaga qaytarish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70263" y="1737360"/>
            <a:ext cx="2606040" cy="3291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98863" y="2011680"/>
            <a:ext cx="502920" cy="502920"/>
          </a:xfrm>
          <a:prstGeom prst="rect">
            <a:avLst/>
          </a:prstGeom>
          <a:solidFill>
            <a:srgbClr val="D5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98863" y="2743200"/>
            <a:ext cx="2148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11111"/>
                </a:solidFill>
                <a:latin typeface="Arial"/>
              </a:rPr>
              <a:t>Xavfsizlik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98863" y="3611880"/>
            <a:ext cx="21488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11111"/>
                </a:solidFill>
                <a:latin typeface="Arial"/>
              </a:rPr>
              <a:t>SQL rollari, qator darajasidagi himoya, yagona kirish (SSO)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34924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Arial"/>
              </a:rPr>
              <a:t>Cheklov: natijalar sintetik ma'lumotda olingan. Haqiqiy universitetda raqamlar boshqacha bo'ladi, usul esa o'zgarmaydi.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Bu dashboard emas, model emas, chatbot emas.
Bu - qaror qabul qilish tizimi.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56616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BDBDBD"/>
                </a:solidFill>
                <a:latin typeface="Arial"/>
              </a:rPr>
              <a:t>4 536 519 yozuv tozalangan va yagona omborda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BDBDBD"/>
                </a:solidFill>
                <a:latin typeface="Arial"/>
              </a:rPr>
              <a:t>Xavf ostidagi talabalarning 79% qismi bir semestr oldin aniqlanadi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BDBDBD"/>
                </a:solidFill>
                <a:latin typeface="Arial"/>
              </a:rPr>
              <a:t>Har bir bashorat tushuntiriladi, har bir qaror oldindan sinab ko'riladi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BDBDBD"/>
                </a:solidFill>
                <a:latin typeface="Arial"/>
              </a:rPr>
              <a:t>AI agent faqat ma'lumot va model natijasiga tayanadi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Savollaringizga tayyorman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